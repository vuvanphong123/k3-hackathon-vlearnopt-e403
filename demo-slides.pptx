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9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VLearn Tutor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theo ngữ cảnh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85800" y="2615184"/>
            <a:ext cx="6217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8F3FF"/>
                </a:solidFill>
              </a:rPr>
              <a:t>Tối ưu AI Tutor: hỏi đúng trang, đúng đoạn, đúng vùng hình ảnh — trả lời có citation để học viên kiểm chứng.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3657600"/>
            <a:ext cx="2788920" cy="292608"/>
          </a:xfrm>
          <a:prstGeom prst="roundRect">
            <a:avLst>
              <a:gd name="adj" fmla="val 25000"/>
            </a:avLst>
          </a:prstGeom>
          <a:solidFill>
            <a:srgbClr val="123B59"/>
          </a:solidFill>
          <a:ln>
            <a:solidFill>
              <a:srgbClr val="123B59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F2FE"/>
                </a:solidFill>
              </a:rPr>
              <a:t>VlearnOpt · AI in Action Hackathon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9144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8890">
            <a:solidFill>
              <a:srgbClr val="94A3B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</a:rPr>
              <a:t>PDF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828800"/>
            <a:ext cx="2011680" cy="694944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2"/>
                </a:solidFill>
              </a:rPr>
              <a:t>Page / Text / Crop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79792" y="2788920"/>
            <a:ext cx="1645920" cy="694944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AI Tutor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3749040"/>
            <a:ext cx="2468880" cy="694944"/>
          </a:xfrm>
          <a:prstGeom prst="roundRect">
            <a:avLst>
              <a:gd name="adj" fmla="val 10526"/>
            </a:avLst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742"/>
                </a:solidFill>
              </a:rPr>
              <a:t>Answer + Citation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0" cy="320040"/>
          </a:xfrm>
          <a:prstGeom prst="line">
            <a:avLst/>
          </a:prstGeom>
          <a:noFill/>
          <a:ln w="13970">
            <a:solidFill>
              <a:srgbClr val="7DD3F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2542032"/>
            <a:ext cx="0" cy="228600"/>
          </a:xfrm>
          <a:prstGeom prst="line">
            <a:avLst/>
          </a:prstGeom>
          <a:noFill/>
          <a:ln w="13970">
            <a:solidFill>
              <a:srgbClr val="7DD3F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0" y="3493008"/>
            <a:ext cx="0" cy="237744"/>
          </a:xfrm>
          <a:prstGeom prst="line">
            <a:avLst/>
          </a:prstGeom>
          <a:noFill/>
          <a:ln w="13970">
            <a:solidFill>
              <a:srgbClr val="7DD3F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29800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FF"/>
                </a:solidFill>
              </a:rPr>
              <a:t>Citation theo trang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72600" y="4133088"/>
            <a:ext cx="1645920" cy="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65408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DEE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dữ liệu: vấn đề có tín hiệu rõ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Mining chatlog VLearn Tutor: 2.522 messages, 1.261 turn hỏi-đáp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50876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</a:rPr>
              <a:t>46,2%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Tutor response không có citation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749808" y="2322576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582 / 1.261 responses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36392" y="150876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</a:rPr>
              <a:t>164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72968" y="198424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Trang N + fallback + citations=[]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3172968" y="2322576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strong selected-page failures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48640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9552" y="150876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</a:rPr>
              <a:t>239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96128" y="198424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Citation không chứa selected page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5596128" y="2322576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page/citation mismatch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90956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82712" y="1508760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</a:rPr>
              <a:t>6/32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19288" y="198424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Visual/chart/image có failure signal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8019288" y="2322576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visual context gap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85800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E7490"/>
                </a:solidFill>
              </a:rPr>
              <a:t>ĐIỀU DỮ LIỆU NÓI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49808" y="34564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742"/>
                </a:solidFill>
              </a:rPr>
              <a:t>Empty citation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81528" y="3575304"/>
            <a:ext cx="3429000" cy="0"/>
          </a:xfrm>
          <a:prstGeom prst="line">
            <a:avLst/>
          </a:prstGeom>
          <a:noFill/>
          <a:ln w="762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081528" y="3575304"/>
            <a:ext cx="1582615" cy="0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47688" y="3447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582/1.261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950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742"/>
                </a:solidFill>
              </a:rPr>
              <a:t>Retrieval/fallback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81528" y="4069080"/>
            <a:ext cx="3429000" cy="0"/>
          </a:xfrm>
          <a:prstGeom prst="line">
            <a:avLst/>
          </a:prstGeom>
          <a:noFill/>
          <a:ln w="762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81528" y="4069080"/>
            <a:ext cx="475872" cy="0"/>
          </a:xfrm>
          <a:prstGeom prst="line">
            <a:avLst/>
          </a:prstGeom>
          <a:noFill/>
          <a:ln w="762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47688" y="39410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175/1.261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4443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742"/>
                </a:solidFill>
              </a:rPr>
              <a:t>Trang N mismatch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81528" y="4562856"/>
            <a:ext cx="3429000" cy="0"/>
          </a:xfrm>
          <a:prstGeom prst="line">
            <a:avLst/>
          </a:prstGeom>
          <a:noFill/>
          <a:ln w="762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81528" y="4562856"/>
            <a:ext cx="649906" cy="0"/>
          </a:xfrm>
          <a:prstGeom prst="line">
            <a:avLst/>
          </a:prstGeom>
          <a:noFill/>
          <a:ln w="762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47688" y="4434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239 turns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" y="4937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742"/>
                </a:solidFill>
              </a:rPr>
              <a:t>Visual failure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81528" y="5056632"/>
            <a:ext cx="3429000" cy="0"/>
          </a:xfrm>
          <a:prstGeom prst="line">
            <a:avLst/>
          </a:prstGeom>
          <a:noFill/>
          <a:ln w="762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081528" y="5056632"/>
            <a:ext cx="642938" cy="0"/>
          </a:xfrm>
          <a:prstGeom prst="line">
            <a:avLst/>
          </a:prstGeom>
          <a:noFill/>
          <a:ln w="762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47688" y="49286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6/32 intents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18120" y="3218688"/>
            <a:ext cx="42488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F2742"/>
                </a:solidFill>
              </a:rPr>
              <a:t>Chọn pain không dựa vào </a:t>
            </a:r>
            <a:r>
              <a:rPr lang="en-US" sz="1900" b="1" dirty="0" err="1">
                <a:solidFill>
                  <a:srgbClr val="0F2742"/>
                </a:solidFill>
              </a:rPr>
              <a:t>cảm</a:t>
            </a:r>
            <a:r>
              <a:rPr lang="en-US" sz="1900" b="1" dirty="0">
                <a:solidFill>
                  <a:srgbClr val="0F2742"/>
                </a:solidFill>
              </a:rPr>
              <a:t> </a:t>
            </a:r>
            <a:r>
              <a:rPr lang="en-US" sz="1900" b="1" dirty="0" err="1">
                <a:solidFill>
                  <a:srgbClr val="0F2742"/>
                </a:solidFill>
              </a:rPr>
              <a:t>tính</a:t>
            </a:r>
            <a:r>
              <a:rPr lang="en-US" sz="1900" b="1" dirty="0">
                <a:solidFill>
                  <a:srgbClr val="0F2742"/>
                </a:solidFill>
              </a:rPr>
              <a:t>.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7818120" y="4663440"/>
            <a:ext cx="3246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• User đã chỉ trang nhưng Tutor vẫn không tìm được nội dung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• User hỏi biểu đồ/vùng hình ảnh nhưng nguồn trả lệch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</a:rPr>
              <a:t>• Citation sai làm giảm khả năng kiểm chứng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685800" y="61447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4A3B8"/>
                </a:solidFill>
              </a:rPr>
              <a:t>Nguồn: evidence/cp1-vlearn-chatlog-mining.md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C65A1A-2A1E-4CF6-24BA-CA2FE04DE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93" y="100841"/>
            <a:ext cx="2248246" cy="25089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5727AB-EA47-01A1-C5AA-43C6DB91B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416" y="1355333"/>
            <a:ext cx="2848271" cy="2297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613CBD-E69C-427C-3386-2EED9C1F7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70" y="2456293"/>
            <a:ext cx="5086858" cy="20978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E1D525-D32C-0B93-EE8D-400DE95A4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01" y="4306950"/>
            <a:ext cx="4354662" cy="20978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8FE6C7-D3C5-D1CD-B984-05BEF830D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6874" y="3763439"/>
            <a:ext cx="4825111" cy="26413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0777F7-33F1-13E9-EE8E-9BF80633AF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7028" y="145472"/>
            <a:ext cx="3080030" cy="313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1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giải pháp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Từ pain dữ liệu đến prototype working có kiểm chứng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594360" y="1865376"/>
            <a:ext cx="5029200" cy="6766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2742"/>
                </a:solidFill>
              </a:rPr>
              <a:t>Học viên hỏi ngay trên PDF đang học; hệ thống lấy đúng ngữ cảnh, trả lời có citation và không đoán khi thiếu căn cứ.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4005072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0E749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Mining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chatlog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80360" y="4005072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Pain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selected 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0" y="4005072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Prototype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PDF + AI Tutor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60920" y="4005072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Eval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43 + 14 cases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4005072"/>
            <a:ext cx="1600200" cy="694944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0E749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Validation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7 người test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49424" y="4352544"/>
            <a:ext cx="557784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89704" y="4352544"/>
            <a:ext cx="557784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29984" y="4352544"/>
            <a:ext cx="557784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70264" y="4352544"/>
            <a:ext cx="557784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Kết quả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792224"/>
            <a:ext cx="50292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2742"/>
                </a:solidFill>
              </a:rPr>
              <a:t>Prototype đã có upload PDF, page/selection/visual context, document search, term retrieval, streaming, citation và eval offline trên PDF thật.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400800" y="2971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Giới hạn trung thực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3282696"/>
            <a:ext cx="493776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2742"/>
                </a:solidFill>
              </a:rPr>
              <a:t>Chưa OCR đầy đủ, chưa auth/permission, validation quote nguyên văn còn cần hoàn thiện sau khi liên hệ lại người test.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&amp; pain point đã chọn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Tối ưu “selected context” thay vì làm một chatbot tài liệu chung chung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Pain chính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2742"/>
                </a:solidFill>
              </a:rPr>
              <a:t>Khi học viên hỏi về trang/đoạn/vùng đang xem, Tutor không luôn dùng đúng context hoặc citation.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218688"/>
            <a:ext cx="329184" cy="329184"/>
          </a:xfrm>
          <a:prstGeom prst="ellipse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Không đúng context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34930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User phải nhập lại nội dung hoặc mô tả trang.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749808" y="3977640"/>
            <a:ext cx="329184" cy="329184"/>
          </a:xfrm>
          <a:prstGeom prst="ellipse">
            <a:avLst/>
          </a:prstGeom>
          <a:solidFill>
            <a:srgbClr val="DC262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959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Citation lệch nguồn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4251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Học viên khó kiểm chứng câu trả lời.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49808" y="4736592"/>
            <a:ext cx="329184" cy="329184"/>
          </a:xfrm>
          <a:prstGeom prst="ellipse">
            <a:avLst/>
          </a:prstGeom>
          <a:solidFill>
            <a:srgbClr val="D9770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718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Visual bị bỏ sót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4440" y="50109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Biểu đồ/sơ đồ không được hiểu đúng nếu chỉ đọc text.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68122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Impact × Effort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5257800"/>
            <a:ext cx="36576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1901952"/>
            <a:ext cx="0" cy="3355848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0" y="5376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Effort thấp → cao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 rot="16200000">
            <a:off x="6629400" y="1847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Impact cao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543800" y="2176272"/>
            <a:ext cx="1691640" cy="804672"/>
          </a:xfrm>
          <a:prstGeom prst="roundRect">
            <a:avLst>
              <a:gd name="adj" fmla="val 9091"/>
            </a:avLst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Primary: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selected 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citation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816352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742"/>
                </a:solidFill>
              </a:rPr>
              <a:t>Visual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742"/>
                </a:solidFill>
              </a:rPr>
              <a:t>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4069080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742"/>
                </a:solidFill>
              </a:rPr>
              <a:t>Whole-doc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F2742"/>
                </a:solidFill>
              </a:rPr>
              <a:t>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5715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Quyết định: chọn slice nhỏ nhưng đo được — trả lời đúng context đang xem, có citation.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Lát cắt sản phẩm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Một user · một việc · một quyết định AI · một kết quả kiểm chứng được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2"/>
                </a:solidFill>
              </a:rPr>
              <a:t>User mở PDF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97480" y="1508760"/>
            <a:ext cx="1828800" cy="694944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12700">
            <a:solidFill>
              <a:srgbClr val="0E749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2742"/>
                </a:solidFill>
              </a:rPr>
              <a:t>Chọn context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F2742"/>
                </a:solidFill>
              </a:rPr>
              <a:t>trang / đoạn / crop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892040" y="1508760"/>
            <a:ext cx="1463040" cy="694944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Hỏi Tutor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84848" y="1508760"/>
            <a:ext cx="1874520" cy="694944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2742"/>
                </a:solidFill>
              </a:rPr>
              <a:t>AI route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F2742"/>
                </a:solidFill>
              </a:rPr>
              <a:t>kiểm evidence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098280" y="1508760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2742"/>
                </a:solidFill>
              </a:rPr>
              <a:t>Trả lời +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F2742"/>
                </a:solidFill>
              </a:rPr>
              <a:t>citation page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286000" y="1847088"/>
            <a:ext cx="36576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847088"/>
            <a:ext cx="338328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55080" y="1847088"/>
            <a:ext cx="393192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59368" y="1847088"/>
            <a:ext cx="4114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E7490"/>
                </a:solidFill>
              </a:rPr>
              <a:t>CONTEXT INPUTS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31520" y="3310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</a:rPr>
              <a:t>Page chat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Kéo trang / active page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79392"/>
            <a:ext cx="21488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3310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490"/>
                </a:solidFill>
              </a:rPr>
              <a:t>Text selection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6616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Bôi đen đoạn cần hỏi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66160" y="4279392"/>
            <a:ext cx="214884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310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</a:rPr>
              <a:t>Visual region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Crop sơ đồ, bảng, biểu đồ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4279392"/>
            <a:ext cx="21488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3310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</a:rPr>
              <a:t>Document search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3544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Tìm toàn tài liệu khi không gắn trang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35440" y="4279392"/>
            <a:ext cx="21488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5230368"/>
            <a:ext cx="9692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742"/>
                </a:solidFill>
              </a:rPr>
              <a:t>Nguyên tắc: context cụ thể hơn luôn thắng context chung. Khi thiếu căn cứ, hệ thống phải nói rõ thay vì đoán.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hệ thống ra quyết định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Conditional automation: đủ căn cứ thì trả lời, thiếu căn cứ thì không đoán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82880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User question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+ context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46120" y="1783080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InteractionResolver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chọn mode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15000" y="1783080"/>
            <a:ext cx="2331720" cy="694944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742"/>
                </a:solidFill>
              </a:rPr>
              <a:t>Evidence check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2742"/>
                </a:solidFill>
              </a:rPr>
              <a:t>page / selection / visual / search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32520" y="1783080"/>
            <a:ext cx="1920240" cy="694944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AnswerService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compose prompt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2121408"/>
            <a:ext cx="612648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84648" y="2121408"/>
            <a:ext cx="50292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65008" y="2121408"/>
            <a:ext cx="64008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03720" y="2487168"/>
            <a:ext cx="0" cy="9144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3694176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Đủ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13632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2"/>
                </a:solidFill>
              </a:rPr>
              <a:t>Answer + citation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3694176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Thiếu / sai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4133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742"/>
                </a:solidFill>
              </a:rPr>
              <a:t>Ask / reject / no hallucination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15400" y="3694176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Câu hỏi thuật ngữ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32520" y="41330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Extract term + query variants + typo guardrail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32180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2742"/>
                </a:solidFill>
              </a:rPr>
              <a:t>Không hardcode thuật ngữ; vocabulary lấy động từ chính tài liệu đang mở.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prototype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Tách rõ UI, orchestration, context services, retrieval và provider AI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React/Vite PDF workspace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Chat panel · selection · crop · streaming SSE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907792" y="2423160"/>
            <a:ext cx="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856232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FastAPI /api/v2/chat/stream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InteractionResolver · OrchestrationService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193792" y="2423160"/>
            <a:ext cx="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Context &amp; Retrieval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856232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PageContext · VisualContext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Chunking · lexical/dense hybrid · QueryPlanner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479792" y="2423160"/>
            <a:ext cx="0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AI Providers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1856232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OpenAI text · Gemini vision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0F2742"/>
                </a:solidFill>
              </a:rPr>
              <a:t>Fallback rules · citation response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E7490"/>
                </a:solidFill>
              </a:rPr>
              <a:t>DATA PATH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3152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PDF upload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5537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PyMuPDF extract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render page/crop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5285232"/>
            <a:ext cx="21488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Index local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74720" y="45537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section + chunk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embedding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474720" y="5285232"/>
            <a:ext cx="214884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Ask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17920" y="45537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route by context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search evidence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217920" y="5285232"/>
            <a:ext cx="21488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0" y="4224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742"/>
                </a:solidFill>
              </a:rPr>
              <a:t>Answer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0" y="45537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grounded prompt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page citations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961120" y="5285232"/>
            <a:ext cx="21488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sử dụng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Stack đủ để demo end-to-end nhưng vẫn tách phần thật và fake trong eval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4ED8"/>
                </a:solidFill>
              </a:rPr>
              <a:t>Frontend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892808"/>
            <a:ext cx="2926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React + Vite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PDF workspace, chat UI, citation click, streaming SSE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31520" y="2779776"/>
            <a:ext cx="27889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3484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</a:rPr>
              <a:t>Backend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34840" y="1892808"/>
            <a:ext cx="2926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Python + FastAPI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Router, orchestration, services, provider gateway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434840" y="2779776"/>
            <a:ext cx="278892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3816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</a:rPr>
              <a:t>Document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38160" y="1892808"/>
            <a:ext cx="2926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PyMuPDF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Text extraction, page render, crop render, bbox context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38160" y="2779776"/>
            <a:ext cx="278892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7706"/>
                </a:solidFill>
              </a:rPr>
              <a:t>Retrieval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3767328"/>
            <a:ext cx="2926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Lexical + dense hybrid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QueryPlanner, typo guardrail, chunk/page citations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31520" y="4654296"/>
            <a:ext cx="27889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3355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3AED"/>
                </a:solidFill>
              </a:rPr>
              <a:t>AI layer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34840" y="3767328"/>
            <a:ext cx="2926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OpenAI + Gemini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Text/multimodal providers, fallback rules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434840" y="4654296"/>
            <a:ext cx="2788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38160" y="3355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</a:rPr>
              <a:t>Eval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38160" y="3767328"/>
            <a:ext cx="2926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Offline fake provider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2742"/>
                </a:solidFill>
              </a:rPr>
              <a:t>43 golden cases + 14 term regression on real PDF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138160" y="4654296"/>
            <a:ext cx="27889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577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</a:rPr>
              <a:t>Design choice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48840" y="555040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742"/>
                </a:solidFill>
              </a:rPr>
              <a:t>Prototype dùng provider thật khi có API key; eval dùng fake provider để kiểm contract, không tốn API và không đọc expected.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cải tiến &amp; nâng cấp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Tập trung xử lý các pain point thật: đúng context, citation, visual và tốc độ trải nghiệm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4ED8"/>
                </a:solidFill>
              </a:rPr>
              <a:t>Context-aware chat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1719072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742"/>
                </a:solidFill>
              </a:rPr>
              <a:t>Trang hiện tại, trang kéo vào, đoạn bôi đen hoặc vùng crop đều thành context có thứ tự ưu tiên.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13432"/>
            <a:ext cx="4407408" cy="0"/>
          </a:xfrm>
          <a:prstGeom prst="line">
            <a:avLst/>
          </a:prstGeom>
          <a:noFill/>
          <a:ln w="2159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A34A"/>
                </a:solidFill>
              </a:rPr>
              <a:t>Grounded citation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3227832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742"/>
                </a:solidFill>
              </a:rPr>
              <a:t>Câu trả lời gắn page citation; click citation để quay lại đúng trang kiểm chứng.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822192"/>
            <a:ext cx="4407408" cy="0"/>
          </a:xfrm>
          <a:prstGeom prst="line">
            <a:avLst/>
          </a:prstGeom>
          <a:noFill/>
          <a:ln w="2159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</a:rPr>
              <a:t>Visual region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" y="4736592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742"/>
                </a:solidFill>
              </a:rPr>
              <a:t>Render page/crop để hỏi sơ đồ, bảng, biểu đồ — không chỉ đọc text.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330952"/>
            <a:ext cx="4407408" cy="0"/>
          </a:xfrm>
          <a:prstGeom prst="line">
            <a:avLst/>
          </a:prstGeom>
          <a:noFill/>
          <a:ln w="2159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7706"/>
                </a:solidFill>
              </a:rPr>
              <a:t>Generic term retrieval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64808" y="1719072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742"/>
                </a:solidFill>
              </a:rPr>
              <a:t>Tách thuật ngữ, tạo variants, xử lý typo nhỏ bằng vocabulary của chính tài liệu.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2313432"/>
            <a:ext cx="4407408" cy="0"/>
          </a:xfrm>
          <a:prstGeom prst="line">
            <a:avLst/>
          </a:prstGeom>
          <a:noFill/>
          <a:ln w="2159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C3AED"/>
                </a:solidFill>
              </a:rPr>
              <a:t>Streaming + reset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64808" y="3227832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742"/>
                </a:solidFill>
              </a:rPr>
              <a:t>SSE streaming, abort khi đổi document/reset, conversation window + digest.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822192"/>
            <a:ext cx="4407408" cy="0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C2626"/>
                </a:solidFill>
              </a:rPr>
              <a:t>No-evidence behavior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64808" y="4736592"/>
            <a:ext cx="44805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2742"/>
                </a:solidFill>
              </a:rPr>
              <a:t>Trang sai, selection giả, thiếu document/key đều trả lỗi rõ; không đoán.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5330952"/>
            <a:ext cx="4407408" cy="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5742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</a:rPr>
              <a:t>Nâng cấp chính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56418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</a:rPr>
              <a:t>Từ “chatbot hỏi tài liệu” → “Tutor hiểu ngữ cảnh học viên đang chỉ vào”.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eval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Không chỉ demo “trả lời được”, mà kiểm contract theo mode/context/citation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Page chat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48840" y="1435608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48840" y="1435608"/>
            <a:ext cx="3200400" cy="0"/>
          </a:xfrm>
          <a:prstGeom prst="line">
            <a:avLst/>
          </a:prstGeom>
          <a:noFill/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40680" y="1316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4ED8"/>
                </a:solidFill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General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1783080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48840" y="1783080"/>
            <a:ext cx="1745673" cy="0"/>
          </a:xfrm>
          <a:prstGeom prst="line">
            <a:avLst/>
          </a:prstGeom>
          <a:noFill/>
          <a:ln w="635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1664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77240" y="20208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Selection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48840" y="2130552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48840" y="2130552"/>
            <a:ext cx="1163782" cy="0"/>
          </a:xfrm>
          <a:prstGeom prst="line">
            <a:avLst/>
          </a:prstGeom>
          <a:noFill/>
          <a:ln w="635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20116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7240" y="2368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Validation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48840" y="2478024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48840" y="2478024"/>
            <a:ext cx="1163782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40680" y="2359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77240" y="2715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Doc search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2825496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48840" y="2825496"/>
            <a:ext cx="1163782" cy="0"/>
          </a:xfrm>
          <a:prstGeom prst="line">
            <a:avLst/>
          </a:prstGeom>
          <a:noFill/>
          <a:ln w="635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27066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" y="3063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Visual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48840" y="3172968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48840" y="3172968"/>
            <a:ext cx="872836" cy="0"/>
          </a:xfrm>
          <a:prstGeom prst="line">
            <a:avLst/>
          </a:prstGeom>
          <a:noFill/>
          <a:ln w="635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3054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3410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Doc visual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48840" y="3520440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48840" y="3520440"/>
            <a:ext cx="872836" cy="0"/>
          </a:xfrm>
          <a:prstGeom prst="line">
            <a:avLst/>
          </a:prstGeom>
          <a:noFill/>
          <a:ln w="635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40680" y="34015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" y="37581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Priority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48840" y="3867912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148840" y="3867912"/>
            <a:ext cx="581891" cy="0"/>
          </a:xfrm>
          <a:prstGeom prst="line">
            <a:avLst/>
          </a:prstGeom>
          <a:noFill/>
          <a:ln w="635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40680" y="3749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</a:rPr>
              <a:t>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7240" y="41056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Fallback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148840" y="4215384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148840" y="4215384"/>
            <a:ext cx="581891" cy="0"/>
          </a:xfrm>
          <a:prstGeom prst="line">
            <a:avLst/>
          </a:prstGeom>
          <a:noFill/>
          <a:ln w="635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0680" y="40965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77240" y="4453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Provider err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148840" y="4562856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148840" y="4562856"/>
            <a:ext cx="581891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40680" y="4443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7240" y="480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History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148840" y="4910328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148840" y="4910328"/>
            <a:ext cx="290945" cy="0"/>
          </a:xfrm>
          <a:prstGeom prst="line">
            <a:avLst/>
          </a:prstGeom>
          <a:noFill/>
          <a:ln w="635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40680" y="47914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7240" y="5148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2742"/>
                </a:solidFill>
              </a:rPr>
              <a:t>UTF-8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148840" y="5257800"/>
            <a:ext cx="3200400" cy="0"/>
          </a:xfrm>
          <a:prstGeom prst="line">
            <a:avLst/>
          </a:prstGeom>
          <a:noFill/>
          <a:ln w="635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148840" y="5257800"/>
            <a:ext cx="290945" cy="0"/>
          </a:xfrm>
          <a:prstGeom prst="line">
            <a:avLst/>
          </a:prstGeom>
          <a:noFill/>
          <a:ln w="635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40680" y="5138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77240" y="5650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E7490"/>
                </a:solidFill>
              </a:rPr>
              <a:t>GOLDEN SET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1874520" y="564184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0F2742"/>
                </a:solidFill>
              </a:rPr>
              <a:t>43 case · giữ phân bổ category · chạy trên PDF thật d2-slide-hackathon.pdf</a:t>
            </a:r>
            <a:endParaRPr lang="en-US" sz="1070" dirty="0"/>
          </a:p>
        </p:txBody>
      </p:sp>
      <p:sp>
        <p:nvSpPr>
          <p:cNvPr id="55" name="Text 53"/>
          <p:cNvSpPr/>
          <p:nvPr/>
        </p:nvSpPr>
        <p:spPr>
          <a:xfrm>
            <a:off x="662940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Chấm cái gì?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656832" y="18745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EFF6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status code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171432" y="18745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F0FDF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interaction mode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656832" y="25603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page &amp; citation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171432" y="25603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EFF6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provider / fallback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656832" y="32461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F0FDF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media path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171432" y="32461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prompt context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656832" y="39319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EFF6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history limit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9171432" y="3931920"/>
            <a:ext cx="2148840" cy="329184"/>
          </a:xfrm>
          <a:prstGeom prst="roundRect">
            <a:avLst>
              <a:gd name="adj" fmla="val 19444"/>
            </a:avLst>
          </a:prstGeom>
          <a:solidFill>
            <a:srgbClr val="F0FDF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2"/>
                </a:solidFill>
              </a:rPr>
              <a:t>UTF-8 / no crash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720840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Term regression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720840" y="5202936"/>
            <a:ext cx="4297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2742"/>
                </a:solidFill>
              </a:rPr>
              <a:t>14 case riêng cho hỏi thuật ngữ: uppercase/lowercase, dấu tiếng Việt, hyphen, typo, không tồn tại và prefix mơ hồ.</a:t>
            </a:r>
            <a:endParaRPr lang="en-US" sz="1220" dirty="0"/>
          </a:p>
        </p:txBody>
      </p:sp>
      <p:sp>
        <p:nvSpPr>
          <p:cNvPr id="66" name="Text 64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eval trên tài liệu thật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Runner đọc PDF thật, chunk/render thật, provider giả chỉ để kiểm contract offline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4630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43/43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50976" y="2029968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Golden eval pass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950976" y="236829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quality_bar_passed = true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547872" y="14630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21024" y="15544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14/14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0" y="2029968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Term-search regression pass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3657600" y="236829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failed = []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6792" y="15544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</a:rPr>
              <a:t>29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73368" y="2029968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Physical PDF pages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6373368" y="236829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d2-slide-hackathon.pdf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979408" y="146304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52560" y="15544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</a:rPr>
              <a:t>1.00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89136" y="2029968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All tracked metrics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9089136" y="236829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mode/page/citation/fallback/etc.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68680" y="3218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E7490"/>
                </a:solidFill>
              </a:rPr>
              <a:t>REAL-PDF EVAL MANIFEST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5486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filename: d2-slide-hackathon.pdf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sha256: 5f729b2788a8f6d56a2252f96e96efec8e8cf7d66a20b39d470bca38f0754c5d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size: 2,435,727 bytes · generated_at: 2026-07-30T15:28 UTC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3218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6A34A"/>
                </a:solidFill>
              </a:rPr>
              <a:t>WHAT PASSED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720840" y="3566160"/>
            <a:ext cx="43891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F2742"/>
                </a:solidFill>
              </a:rPr>
              <a:t>• Page/selection/visual routing đúng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0F2742"/>
                </a:solidFill>
              </a:rPr>
              <a:t>• Citation page đúng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0F2742"/>
                </a:solidFill>
              </a:rPr>
              <a:t>• Provider fallback đúng luật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0F2742"/>
                </a:solidFill>
              </a:rPr>
              <a:t>• Prompt chứa context bắt buộc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0F2742"/>
                </a:solidFill>
              </a:rPr>
              <a:t>• Term query tìm đúng page với typo guardrail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60120" y="55778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97706"/>
                </a:solidFill>
              </a:rPr>
              <a:t>Lưu ý: </a:t>
            </a:r>
            <a:r>
              <a:rPr lang="en-US" sz="1450" b="1" dirty="0" err="1">
                <a:solidFill>
                  <a:srgbClr val="D97706"/>
                </a:solidFill>
              </a:rPr>
              <a:t>đây</a:t>
            </a:r>
            <a:r>
              <a:rPr lang="en-US" sz="1450" b="1" dirty="0">
                <a:solidFill>
                  <a:srgbClr val="D97706"/>
                </a:solidFill>
              </a:rPr>
              <a:t> </a:t>
            </a:r>
            <a:r>
              <a:rPr lang="en-US" sz="1450" b="1" dirty="0" err="1">
                <a:solidFill>
                  <a:srgbClr val="D97706"/>
                </a:solidFill>
              </a:rPr>
              <a:t>không</a:t>
            </a:r>
            <a:r>
              <a:rPr lang="en-US" sz="1450" b="1" dirty="0">
                <a:solidFill>
                  <a:srgbClr val="D97706"/>
                </a:solidFill>
              </a:rPr>
              <a:t> phải chấm semantic quality đầy đủ của model thật.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prototype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Đã có 8 người test ngày 30/07; quote nguyên văn sẽ điền sau khi xác nhận lại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4630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</a:rPr>
              <a:t>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6968" y="193852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Người tham gia test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886968" y="227685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30/07/2026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154680" y="137160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27832" y="14630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193852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Chủ đề feedback chính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3264408" y="227685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usable · UI · latency · painpoint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32120" y="1371600"/>
            <a:ext cx="2057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05272" y="1463040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41848" y="1938528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Quote đã xác nhận trong slide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5641848" y="2276856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để trống để tránh bịa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909560" y="13716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82712" y="14630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</a:rPr>
              <a:t>PARTIAL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19288" y="1938528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F2742"/>
                </a:solidFill>
              </a:rPr>
              <a:t>Trạng thái validation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8019288" y="2276856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chờ quote/willing user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68680" y="2907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E7490"/>
                </a:solidFill>
              </a:rPr>
              <a:t>FEEDBACK THEMES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6868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Sử dụng được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602736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2742"/>
                </a:solidFill>
              </a:rPr>
              <a:t>Luồng chính hoạt động ổn; app trả lời tốt hơn pain cũ.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868680" y="4096512"/>
            <a:ext cx="411480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Giao diện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3602736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2742"/>
                </a:solidFill>
              </a:rPr>
              <a:t>Cần polish để trực quan, dễ dùng hơn.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6035040" y="4096512"/>
            <a:ext cx="4114800" cy="0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4352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Tốc độ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681728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2742"/>
                </a:solidFill>
              </a:rPr>
              <a:t>Response đôi lúc chậm; streaming giúp giảm cảm giác chờ.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868680" y="5175504"/>
            <a:ext cx="411480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0" y="4352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Pain point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0" y="4681728"/>
            <a:ext cx="4297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0F2742"/>
                </a:solidFill>
              </a:rPr>
              <a:t>Cải thiện hỏi theo tài liệu, đúng context và kiểm tra nguồn/citation.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6035040" y="5175504"/>
            <a:ext cx="4114800" cy="0"/>
          </a:xfrm>
          <a:prstGeom prst="line">
            <a:avLst/>
          </a:prstGeom>
          <a:noFill/>
          <a:ln w="1778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57424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có thêm một tuần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Tập trung polish sản phẩm và đóng các blocker nộp bài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83112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384048" cy="384048"/>
          </a:xfrm>
          <a:prstGeom prst="ellipse">
            <a:avLst/>
          </a:prstGeom>
          <a:solidFill>
            <a:srgbClr val="1D4E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81328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</a:rPr>
              <a:t>Bổ sung quote validation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97680" y="1216152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75569"/>
                </a:solidFill>
              </a:rPr>
              <a:t>Liên hệ lại 8 người test, điền quote nguyên văn và willing user.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384048" cy="384048"/>
          </a:xfrm>
          <a:prstGeom prst="ellipse">
            <a:avLst/>
          </a:prstGeom>
          <a:solidFill>
            <a:srgbClr val="0E749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81328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</a:rPr>
              <a:t>Polish giao diện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97680" y="2103120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75569"/>
                </a:solidFill>
              </a:rPr>
              <a:t>Rõ context đang dùng, trạng thái loading/streaming, empty/error states.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868680" y="3008376"/>
            <a:ext cx="384048" cy="384048"/>
          </a:xfrm>
          <a:prstGeom prst="ellipse">
            <a:avLst/>
          </a:prstGeom>
          <a:solidFill>
            <a:srgbClr val="D9770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2990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</a:rPr>
              <a:t>Tối ưu latency &amp; cost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97680" y="2990088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75569"/>
                </a:solidFill>
              </a:rPr>
              <a:t>Cache embedding/render, chọn model theo độ khó, giới hạn top-k hợp lý.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868680" y="3895344"/>
            <a:ext cx="384048" cy="384048"/>
          </a:xfrm>
          <a:prstGeom prst="ellipse">
            <a:avLst/>
          </a:prstGeom>
          <a:solidFill>
            <a:srgbClr val="7C3AE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</a:rPr>
              <a:t>OCR / scanned PDF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97680" y="3877056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75569"/>
                </a:solidFill>
              </a:rPr>
              <a:t>Cải thiện tài liệu ít text, bảng/hình và crop nhỏ.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868680" y="4782312"/>
            <a:ext cx="384048" cy="384048"/>
          </a:xfrm>
          <a:prstGeom prst="ellipse">
            <a:avLst/>
          </a:prstGeom>
          <a:solidFill>
            <a:srgbClr val="16A34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4764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2"/>
                </a:solidFill>
              </a:rPr>
              <a:t>Production guardrails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97680" y="4764024"/>
            <a:ext cx="6217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75569"/>
                </a:solidFill>
              </a:rPr>
              <a:t>Auth/permission, logging, rollback, privacy và monitoring.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868680" y="5760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</a:rPr>
              <a:t>Kết luận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5632704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2742"/>
                </a:solidFill>
              </a:rPr>
              <a:t>VLearn Tutor giải quyết đúng pain được mining: hỏi theo context đang xem, trả lời có nguồn, và giảm rủi ro học sai vì citation lệch.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VlearnOpt · VLearn Tutor theo ngữ cảnh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1656</Words>
  <Application>Microsoft Office PowerPoint</Application>
  <PresentationFormat>Widescreen</PresentationFormat>
  <Paragraphs>324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VlearnOpt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VLearn Tutor theo ngữ cảnh - VlearnOpt</dc:title>
  <dc:subject>VLearn Tutor contextual prototype pitch deck</dc:subject>
  <dc:creator>OpenAI</dc:creator>
  <cp:lastModifiedBy>VU VAN PHONG (S.AI.20K)</cp:lastModifiedBy>
  <cp:revision>2</cp:revision>
  <dcterms:created xsi:type="dcterms:W3CDTF">2026-07-30T17:46:04Z</dcterms:created>
  <dcterms:modified xsi:type="dcterms:W3CDTF">2026-07-30T18:31:04Z</dcterms:modified>
</cp:coreProperties>
</file>